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397000" cy="406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444500"/>
            <a:ext cx="139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BIZ UDPGothic"/>
              </a:rPr>
              <a:t>質問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270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BIZ UDPGothic"/>
              </a:rPr>
              <a:t>今日、スマホや端末の</a:t>
            </a:r>
          </a:p>
          <a:p>
            <a:pPr algn="l"/>
            <a:r>
              <a:rPr sz="3200" b="1">
                <a:solidFill>
                  <a:srgbClr val="1A1A1A"/>
                </a:solidFill>
                <a:latin typeface="BIZ UDPGothic"/>
              </a:rPr>
              <a:t>ロックを解除しましたか？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29845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29845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9845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29000" y="29845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29845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23000" y="29845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7000" y="29845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17000" y="29845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6032500"/>
            <a:ext cx="1092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BIZ UDPGothic"/>
              </a:rPr>
              <a:t>このあと「では、正確に何回か言える人？」と問う。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答えは ③ 銀行のコンピュータ（ブロック矢印）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9000" y="1460500"/>
            <a:ext cx="2159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IZ UDPGothic"/>
              </a:rPr>
              <a:t>あなた</a:t>
            </a:r>
          </a:p>
          <a:p>
            <a:pPr algn="l"/>
            <a:r>
              <a:rPr sz="1600" b="1">
                <a:solidFill>
                  <a:srgbClr val="1A1A1A"/>
                </a:solidFill>
                <a:latin typeface="BIZ UDPGothic"/>
              </a:rPr>
              <a:t>暗証番号を入れる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34000" y="1460500"/>
            <a:ext cx="2286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25E00"/>
                </a:solidFill>
                <a:latin typeface="BIZ UDPGothic"/>
              </a:rPr>
              <a:t>銀行のコンピュータ</a:t>
            </a:r>
          </a:p>
          <a:p>
            <a:pPr algn="l"/>
            <a:r>
              <a:rPr sz="1600" b="1">
                <a:solidFill>
                  <a:srgbClr val="C25E00"/>
                </a:solidFill>
                <a:latin typeface="BIZ UDPGothic"/>
              </a:rPr>
              <a:t>合っているか確かめる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8001000" y="1587500"/>
            <a:ext cx="6985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63000" y="1333500"/>
            <a:ext cx="2794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17000" y="1460500"/>
            <a:ext cx="2286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385F"/>
                </a:solidFill>
                <a:latin typeface="BIZ UDPGothic"/>
              </a:rPr>
              <a:t>OK / NG が返る</a:t>
            </a:r>
          </a:p>
          <a:p>
            <a:pPr algn="l"/>
            <a:r>
              <a:rPr sz="1600" b="1">
                <a:solidFill>
                  <a:srgbClr val="14385F"/>
                </a:solidFill>
                <a:latin typeface="BIZ UDPGothic"/>
              </a:rPr>
              <a:t>あの数秒は、返事待ち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794000"/>
            <a:ext cx="10922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① なぜ、カードの中で確かめないのだろう？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② 遠くのコンピュータに聞くとき、何が行き来している？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③ その行き来を、他の人が見ることはできる？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" y="4572000"/>
            <a:ext cx="10922000" cy="825500"/>
          </a:xfrm>
          <a:prstGeom prst="roundRect">
            <a:avLst/>
          </a:prstGeom>
          <a:solidFill>
            <a:srgbClr val="F7FAFD"/>
          </a:solidFill>
          <a:ln w="317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9800" y="4699000"/>
            <a:ext cx="10287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BIZ UDPGothic"/>
              </a:rPr>
              <a:t>学習問題　私たちは、どうやって「本人だ」と確かめられているのだろうか。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同じ図を「線＋矢じり」で作った場合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032000"/>
            <a:ext cx="2794000" cy="101600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2000" y="2032000"/>
            <a:ext cx="2794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BIZ UDPGothic"/>
              </a:rPr>
              <a:t>示す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10000" y="2540000"/>
            <a:ext cx="12065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07000" y="2032000"/>
            <a:ext cx="2794000" cy="1016000"/>
          </a:xfrm>
          <a:prstGeom prst="roundRect">
            <a:avLst/>
          </a:prstGeom>
          <a:solidFill>
            <a:srgbClr val="FFE9C7"/>
          </a:solidFill>
          <a:ln w="3810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207000" y="2032000"/>
            <a:ext cx="2794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55000" y="2540000"/>
            <a:ext cx="12065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52000" y="2032000"/>
            <a:ext cx="1778000" cy="1016000"/>
          </a:xfrm>
          <a:prstGeom prst="roundRect">
            <a:avLst/>
          </a:prstGeom>
          <a:solidFill>
            <a:srgbClr val="EAF4FF"/>
          </a:solidFill>
          <a:ln w="3810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52000" y="2032000"/>
            <a:ext cx="1778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3937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行って、返ってくる。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往復しないと、認証にならない。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