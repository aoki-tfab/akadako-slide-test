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35000" y="444500"/>
            <a:ext cx="1397000" cy="406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444500"/>
            <a:ext cx="139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BIZ UDPGothic"/>
              </a:rPr>
              <a:t>質問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270000"/>
            <a:ext cx="1092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BIZ UDPGothic"/>
              </a:rPr>
              <a:t>今日、スマホや端末の</a:t>
            </a:r>
          </a:p>
          <a:p>
            <a:pPr algn="l"/>
            <a:r>
              <a:rPr sz="3200" b="1">
                <a:solidFill>
                  <a:srgbClr val="1A1A1A"/>
                </a:solidFill>
                <a:latin typeface="BIZ UDPGothic"/>
              </a:rPr>
              <a:t>ロックを解除しましたか？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000" y="2984500"/>
            <a:ext cx="2540000" cy="825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5000" y="2984500"/>
            <a:ext cx="2540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1A1A1A"/>
                </a:solidFill>
                <a:latin typeface="BIZ UDPGothic"/>
              </a:rPr>
              <a:t>① していない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984500"/>
            <a:ext cx="2540000" cy="825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29000" y="2984500"/>
            <a:ext cx="2540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1A1A1A"/>
                </a:solidFill>
                <a:latin typeface="BIZ UDPGothic"/>
              </a:rPr>
              <a:t>② 1〜2回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000" y="2984500"/>
            <a:ext cx="2540000" cy="825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3000" y="2984500"/>
            <a:ext cx="2540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1A1A1A"/>
                </a:solidFill>
                <a:latin typeface="BIZ UDPGothic"/>
              </a:rPr>
              <a:t>③ 3〜5回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17000" y="2984500"/>
            <a:ext cx="2540000" cy="825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017000" y="2984500"/>
            <a:ext cx="2540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1A1A1A"/>
                </a:solidFill>
                <a:latin typeface="BIZ UDPGothic"/>
              </a:rPr>
              <a:t>④ 6回以上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6032500"/>
            <a:ext cx="1092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BIZ UDPGothic"/>
              </a:rPr>
              <a:t>このあと「では、正確に何回か言える人？」と問う。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35000" y="444500"/>
            <a:ext cx="10922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5000" y="444500"/>
            <a:ext cx="88900" cy="4826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9000" y="444500"/>
            <a:ext cx="10160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BIZ UDPGothic"/>
              </a:rPr>
              <a:t>答えは ③ 銀行のコンピュータ（ブロック矢印）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000" y="1333500"/>
            <a:ext cx="2667000" cy="88900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89000" y="1460500"/>
            <a:ext cx="2159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BIZ UDPGothic"/>
              </a:rPr>
              <a:t>あなた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BIZ UDPGothic"/>
              </a:rPr>
              <a:t>暗証番号を入れる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56000" y="1587500"/>
            <a:ext cx="1270000" cy="508000"/>
          </a:xfrm>
          <a:prstGeom prst="rightArrow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80000" y="1333500"/>
            <a:ext cx="2794000" cy="889000"/>
          </a:xfrm>
          <a:prstGeom prst="roundRect">
            <a:avLst/>
          </a:prstGeom>
          <a:solidFill>
            <a:srgbClr val="FFE9C7"/>
          </a:solidFill>
          <a:ln w="31750">
            <a:solidFill>
              <a:srgbClr val="D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0" y="1460500"/>
            <a:ext cx="2286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25E00"/>
                </a:solidFill>
                <a:latin typeface="BIZ UDPGothic"/>
              </a:rPr>
              <a:t>銀行のコンピュータ</a:t>
            </a:r>
          </a:p>
          <a:p>
            <a:pPr algn="l"/>
            <a:r>
              <a:rPr sz="1600" b="1">
                <a:solidFill>
                  <a:srgbClr val="C25E00"/>
                </a:solidFill>
                <a:latin typeface="BIZ UDPGothic"/>
              </a:rPr>
              <a:t>合っているか確かめる</a:t>
            </a:r>
          </a:p>
        </p:txBody>
      </p:sp>
      <p:sp>
        <p:nvSpPr>
          <p:cNvPr id="10" name="Right Arrow 9"/>
          <p:cNvSpPr/>
          <p:nvPr/>
        </p:nvSpPr>
        <p:spPr>
          <a:xfrm rot="10800000">
            <a:off x="8001000" y="1587500"/>
            <a:ext cx="698500" cy="508000"/>
          </a:xfrm>
          <a:prstGeom prst="rightArrow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63000" y="1333500"/>
            <a:ext cx="2794000" cy="889000"/>
          </a:xfrm>
          <a:prstGeom prst="roundRect">
            <a:avLst/>
          </a:prstGeom>
          <a:solidFill>
            <a:srgbClr val="EAF4FF"/>
          </a:solidFill>
          <a:ln w="31750">
            <a:solidFill>
              <a:srgbClr val="3A7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017000" y="1460500"/>
            <a:ext cx="2286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385F"/>
                </a:solidFill>
                <a:latin typeface="BIZ UDPGothic"/>
              </a:rPr>
              <a:t>OK / NG が返る</a:t>
            </a:r>
          </a:p>
          <a:p>
            <a:pPr algn="l"/>
            <a:r>
              <a:rPr sz="1600" b="1">
                <a:solidFill>
                  <a:srgbClr val="14385F"/>
                </a:solidFill>
                <a:latin typeface="BIZ UDPGothic"/>
              </a:rPr>
              <a:t>あの数秒は、返事待ち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2794000"/>
            <a:ext cx="10922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BIZ UDPGothic"/>
              </a:rPr>
              <a:t>① なぜ、カードの中で確かめないのだろう？</a:t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BIZ UDPGothic"/>
              </a:rPr>
              <a:t>② 遠くのコンピュータに聞くとき、何が行き来している？</a:t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BIZ UDPGothic"/>
              </a:rPr>
              <a:t>③ その行き来を、他の人が見ることはできる？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000" y="4572000"/>
            <a:ext cx="10922000" cy="825500"/>
          </a:xfrm>
          <a:prstGeom prst="roundRect">
            <a:avLst/>
          </a:prstGeom>
          <a:solidFill>
            <a:srgbClr val="F7FAFD"/>
          </a:solidFill>
          <a:ln w="317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9800" y="4699000"/>
            <a:ext cx="1028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BIZ UDPGothic"/>
              </a:rPr>
              <a:t>学習問題　私たちは、どうやって「本人だ」と確かめられているのだろうか。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35000" y="444500"/>
            <a:ext cx="10922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5000" y="444500"/>
            <a:ext cx="88900" cy="4826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9000" y="444500"/>
            <a:ext cx="10160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BIZ UDPGothic"/>
              </a:rPr>
              <a:t>同じ図を「線＋矢じり」で作った場合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32000"/>
            <a:ext cx="2794000" cy="1016000"/>
          </a:xfrm>
          <a:prstGeom prst="roundRect">
            <a:avLst/>
          </a:prstGeom>
          <a:solidFill>
            <a:srgbClr val="FAFAFA"/>
          </a:solidFill>
          <a:ln w="381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2000" y="2032000"/>
            <a:ext cx="2794000" cy="10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BIZ UDPGothic"/>
              </a:rPr>
              <a:t>示す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10000" y="2540000"/>
            <a:ext cx="1206500" cy="0"/>
          </a:xfrm>
          <a:prstGeom prst="line">
            <a:avLst/>
          </a:prstGeom>
          <a:ln w="31750">
            <a:solidFill>
              <a:srgbClr val="3D3D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207000" y="2032000"/>
            <a:ext cx="2794000" cy="1016000"/>
          </a:xfrm>
          <a:prstGeom prst="roundRect">
            <a:avLst/>
          </a:prstGeom>
          <a:solidFill>
            <a:srgbClr val="FFE9C7"/>
          </a:solidFill>
          <a:ln w="38100">
            <a:solidFill>
              <a:srgbClr val="D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207000" y="2032000"/>
            <a:ext cx="2794000" cy="10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25E00"/>
                </a:solidFill>
                <a:latin typeface="BIZ UDPGothic"/>
              </a:rPr>
              <a:t>確かめる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55000" y="2540000"/>
            <a:ext cx="1206500" cy="0"/>
          </a:xfrm>
          <a:prstGeom prst="line">
            <a:avLst/>
          </a:prstGeom>
          <a:ln w="31750">
            <a:solidFill>
              <a:srgbClr val="3D3D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652000" y="2032000"/>
            <a:ext cx="1778000" cy="1016000"/>
          </a:xfrm>
          <a:prstGeom prst="roundRect">
            <a:avLst/>
          </a:prstGeom>
          <a:solidFill>
            <a:srgbClr val="EAF4FF"/>
          </a:solidFill>
          <a:ln w="38100">
            <a:solidFill>
              <a:srgbClr val="3A7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52000" y="2032000"/>
            <a:ext cx="1778000" cy="10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14385F"/>
                </a:solidFill>
                <a:latin typeface="BIZ UDPGothic"/>
              </a:rPr>
              <a:t>返る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3937000"/>
            <a:ext cx="1092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BIZ UDPGothic"/>
              </a:rPr>
              <a:t>行って、返ってくる。</a:t>
            </a:r>
          </a:p>
          <a:p>
            <a:pPr algn="l"/>
            <a:r>
              <a:rPr sz="2000" b="0">
                <a:solidFill>
                  <a:srgbClr val="1A1A1A"/>
                </a:solidFill>
                <a:latin typeface="BIZ UDPGothic"/>
              </a:rPr>
              <a:t>往復しないと、認証にならない。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